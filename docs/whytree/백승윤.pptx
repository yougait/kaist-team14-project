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635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2A2E"/>
                </a:solidFill>
                <a:latin typeface="Pretendard"/>
              </a:rPr>
              <a:t>WhyTree 템플릿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8001000" cy="2228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이름이나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별명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</a:t>
            </a:r>
            <a:r>
              <a:rPr lang="ko-KR" altLang="en-US"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먼저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나중에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r>
              <a:rPr lang="ko-KR" altLang="en-US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중에 먼저 생각나는 다섯가지를 씨앗으로 적습니다</a:t>
            </a:r>
            <a:r>
              <a:rPr lang="en-US" altLang="ko-KR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갈수록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본질적인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(why)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물으며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올라갑니다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않지만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찾은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그립니다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아래에서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en-US"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끝을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상자에는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명사구로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줄이기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부가적인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점선으로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갈라지면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누구를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WhyTree인지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적습니다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98000" y="1460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A2E"/>
                </a:solidFill>
                <a:latin typeface="Pretendard"/>
              </a:rPr>
              <a:t>상자와 화살표</a:t>
            </a:r>
          </a:p>
        </p:txBody>
      </p:sp>
      <p:sp>
        <p:nvSpPr>
          <p:cNvPr id="5" name="견본: 상자"/>
          <p:cNvSpPr/>
          <p:nvPr/>
        </p:nvSpPr>
        <p:spPr>
          <a:xfrm>
            <a:off x="9398000" y="1771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상자</a:t>
            </a:r>
          </a:p>
        </p:txBody>
      </p:sp>
      <p:sp>
        <p:nvSpPr>
          <p:cNvPr id="6" name="견본: 씨앗"/>
          <p:cNvSpPr/>
          <p:nvPr/>
        </p:nvSpPr>
        <p:spPr>
          <a:xfrm>
            <a:off x="9398000" y="22161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 dirty="0" err="1">
                <a:solidFill>
                  <a:srgbClr val="1F2A2E"/>
                </a:solidFill>
                <a:latin typeface="Pretendard"/>
              </a:rPr>
              <a:t>씨앗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 (</a:t>
            </a:r>
            <a:r>
              <a:rPr lang="ko-KR" altLang="en-US" sz="1100" b="1" dirty="0">
                <a:solidFill>
                  <a:srgbClr val="1F2A2E"/>
                </a:solidFill>
                <a:latin typeface="Pretendard"/>
              </a:rPr>
              <a:t>먼저 생각나는 </a:t>
            </a:r>
            <a:r>
              <a:rPr sz="1100" b="1" dirty="0" err="1">
                <a:solidFill>
                  <a:srgbClr val="1F2A2E"/>
                </a:solidFill>
                <a:latin typeface="Pretendard"/>
              </a:rPr>
              <a:t>일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)</a:t>
            </a:r>
          </a:p>
        </p:txBody>
      </p:sp>
      <p:sp>
        <p:nvSpPr>
          <p:cNvPr id="7" name="견본: 아직 하지 않는 일 (점선)"/>
          <p:cNvSpPr/>
          <p:nvPr/>
        </p:nvSpPr>
        <p:spPr>
          <a:xfrm>
            <a:off x="9398000" y="2660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아직 하지 않는 일</a:t>
            </a:r>
          </a:p>
        </p:txBody>
      </p:sp>
      <p:sp>
        <p:nvSpPr>
          <p:cNvPr id="8" name="견본: 실선 위"/>
          <p:cNvSpPr/>
          <p:nvPr/>
        </p:nvSpPr>
        <p:spPr>
          <a:xfrm>
            <a:off x="9461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9" name="견본: 실선 아래"/>
          <p:cNvSpPr/>
          <p:nvPr/>
        </p:nvSpPr>
        <p:spPr>
          <a:xfrm>
            <a:off x="9461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0" name="화살표"/>
          <p:cNvCxnSpPr>
            <a:stCxn id="9" idx="0"/>
            <a:endCxn id="8" idx="2"/>
          </p:cNvCxnSpPr>
          <p:nvPr/>
        </p:nvCxnSpPr>
        <p:spPr>
          <a:xfrm flipH="1" flipV="1">
            <a:off x="9842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견본: 점선 위"/>
          <p:cNvSpPr/>
          <p:nvPr/>
        </p:nvSpPr>
        <p:spPr>
          <a:xfrm>
            <a:off x="10350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12" name="견본: 점선 아래"/>
          <p:cNvSpPr/>
          <p:nvPr/>
        </p:nvSpPr>
        <p:spPr>
          <a:xfrm>
            <a:off x="10350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3" name="화살표 (점선: 부가적인 why)"/>
          <p:cNvCxnSpPr>
            <a:stCxn id="12" idx="0"/>
            <a:endCxn id="11" idx="2"/>
          </p:cNvCxnSpPr>
          <p:nvPr/>
        </p:nvCxnSpPr>
        <p:spPr>
          <a:xfrm flipH="1" flipV="1">
            <a:off x="10731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98000" y="4076699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실선: 가장 중요한 why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점선: 부가적인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백승윤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2026-10-28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760000"/>
            <a:ext cx="900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500" b="1">
                <a:solidFill>
                  <a:srgbClr val="2F6B4F"/>
                </a:solidFill>
                <a:latin typeface="Pretendard"/>
                <a:ea typeface="Pretendard"/>
              </a:rPr>
              <a:t>14조 KNEECH 러닝자세 AI 코칭 — 백승윤의 WhyTree</a:t>
            </a:r>
          </a:p>
        </p:txBody>
      </p:sp>
      <p:cxnSp>
        <p:nvCxnSpPr>
          <p:cNvPr id="16" name="화살표"/>
          <p:cNvCxnSpPr>
            <a:stCxn id="11" idx="0"/>
            <a:endCxn id="15" idx="2"/>
          </p:cNvCxnSpPr>
          <p:nvPr/>
        </p:nvCxnSpPr>
        <p:spPr>
          <a:xfrm flipV="1">
            <a:off x="776000" y="2980000"/>
            <a:ext cx="114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화살표"/>
          <p:cNvCxnSpPr>
            <a:stCxn id="12" idx="0"/>
            <a:endCxn id="15" idx="2"/>
          </p:cNvCxnSpPr>
          <p:nvPr/>
        </p:nvCxnSpPr>
        <p:spPr>
          <a:xfrm flipV="1">
            <a:off x="1536000" y="2980000"/>
            <a:ext cx="38000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화살표"/>
          <p:cNvCxnSpPr>
            <a:stCxn id="13" idx="0"/>
            <a:endCxn id="15" idx="2"/>
          </p:cNvCxnSpPr>
          <p:nvPr/>
        </p:nvCxnSpPr>
        <p:spPr>
          <a:xfrm flipH="1" flipV="1">
            <a:off x="1916000" y="2980000"/>
            <a:ext cx="38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화살표"/>
          <p:cNvCxnSpPr>
            <a:stCxn id="14" idx="0"/>
            <a:endCxn id="15" idx="2"/>
          </p:cNvCxnSpPr>
          <p:nvPr/>
        </p:nvCxnSpPr>
        <p:spPr>
          <a:xfrm flipH="1" flipV="1">
            <a:off x="1916000" y="2980000"/>
            <a:ext cx="114000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화살표"/>
          <p:cNvCxnSpPr>
            <a:stCxn id="15" idx="0"/>
            <a:endCxn id="10" idx="2"/>
          </p:cNvCxnSpPr>
          <p:nvPr/>
        </p:nvCxnSpPr>
        <p:spPr>
          <a:xfrm flipV="1">
            <a:off x="1916000" y="1940000"/>
            <a:ext cx="4180000" cy="4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화살표"/>
          <p:cNvCxnSpPr>
            <a:stCxn id="21" idx="0"/>
            <a:endCxn id="24" idx="2"/>
          </p:cNvCxnSpPr>
          <p:nvPr/>
        </p:nvCxnSpPr>
        <p:spPr>
          <a:xfrm flipV="1">
            <a:off x="381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화살표"/>
          <p:cNvCxnSpPr>
            <a:stCxn id="22" idx="0"/>
            <a:endCxn id="24" idx="2"/>
          </p:cNvCxnSpPr>
          <p:nvPr/>
        </p:nvCxnSpPr>
        <p:spPr>
          <a:xfrm flipV="1">
            <a:off x="4576000" y="2980000"/>
            <a:ext cx="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화살표"/>
          <p:cNvCxnSpPr>
            <a:stCxn id="23" idx="0"/>
            <a:endCxn id="24" idx="2"/>
          </p:cNvCxnSpPr>
          <p:nvPr/>
        </p:nvCxnSpPr>
        <p:spPr>
          <a:xfrm flipH="1" flipV="1">
            <a:off x="457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화살표"/>
          <p:cNvCxnSpPr>
            <a:stCxn id="24" idx="0"/>
            <a:endCxn id="10" idx="2"/>
          </p:cNvCxnSpPr>
          <p:nvPr/>
        </p:nvCxnSpPr>
        <p:spPr>
          <a:xfrm flipV="1">
            <a:off x="4576000" y="1940000"/>
            <a:ext cx="1520000" cy="4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화살표"/>
          <p:cNvCxnSpPr>
            <a:stCxn id="29" idx="0"/>
            <a:endCxn id="34" idx="2"/>
          </p:cNvCxnSpPr>
          <p:nvPr/>
        </p:nvCxnSpPr>
        <p:spPr>
          <a:xfrm flipV="1">
            <a:off x="6096000" y="2980000"/>
            <a:ext cx="152000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화살표"/>
          <p:cNvCxnSpPr>
            <a:stCxn id="30" idx="0"/>
            <a:endCxn id="34" idx="2"/>
          </p:cNvCxnSpPr>
          <p:nvPr/>
        </p:nvCxnSpPr>
        <p:spPr>
          <a:xfrm flipV="1">
            <a:off x="685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화살표"/>
          <p:cNvCxnSpPr>
            <a:stCxn id="31" idx="0"/>
            <a:endCxn id="34" idx="2"/>
          </p:cNvCxnSpPr>
          <p:nvPr/>
        </p:nvCxnSpPr>
        <p:spPr>
          <a:xfrm flipV="1">
            <a:off x="7616000" y="2980000"/>
            <a:ext cx="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화살표"/>
          <p:cNvCxnSpPr>
            <a:stCxn id="32" idx="0"/>
            <a:endCxn id="34" idx="2"/>
          </p:cNvCxnSpPr>
          <p:nvPr/>
        </p:nvCxnSpPr>
        <p:spPr>
          <a:xfrm flipH="1" flipV="1">
            <a:off x="761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화살표"/>
          <p:cNvCxnSpPr>
            <a:stCxn id="33" idx="0"/>
            <a:endCxn id="34" idx="2"/>
          </p:cNvCxnSpPr>
          <p:nvPr/>
        </p:nvCxnSpPr>
        <p:spPr>
          <a:xfrm flipH="1" flipV="1">
            <a:off x="7616000" y="2980000"/>
            <a:ext cx="152000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화살표"/>
          <p:cNvCxnSpPr>
            <a:stCxn id="34" idx="0"/>
            <a:endCxn id="10" idx="2"/>
          </p:cNvCxnSpPr>
          <p:nvPr/>
        </p:nvCxnSpPr>
        <p:spPr>
          <a:xfrm flipH="1" flipV="1">
            <a:off x="6096000" y="1940000"/>
            <a:ext cx="1520000" cy="4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화살표"/>
          <p:cNvCxnSpPr>
            <a:stCxn id="41" idx="0"/>
            <a:endCxn id="44" idx="2"/>
          </p:cNvCxnSpPr>
          <p:nvPr/>
        </p:nvCxnSpPr>
        <p:spPr>
          <a:xfrm flipV="1">
            <a:off x="989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화살표"/>
          <p:cNvCxnSpPr>
            <a:stCxn id="42" idx="0"/>
            <a:endCxn id="44" idx="2"/>
          </p:cNvCxnSpPr>
          <p:nvPr/>
        </p:nvCxnSpPr>
        <p:spPr>
          <a:xfrm flipV="1">
            <a:off x="10656000" y="2980000"/>
            <a:ext cx="0" cy="19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화살표"/>
          <p:cNvCxnSpPr>
            <a:stCxn id="43" idx="0"/>
            <a:endCxn id="44" idx="2"/>
          </p:cNvCxnSpPr>
          <p:nvPr/>
        </p:nvCxnSpPr>
        <p:spPr>
          <a:xfrm flipH="1" flipV="1">
            <a:off x="10656000" y="2980000"/>
            <a:ext cx="760000" cy="72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화살표"/>
          <p:cNvCxnSpPr>
            <a:stCxn id="44" idx="0"/>
            <a:endCxn id="10" idx="2"/>
          </p:cNvCxnSpPr>
          <p:nvPr/>
        </p:nvCxnSpPr>
        <p:spPr>
          <a:xfrm flipH="1" flipV="1">
            <a:off x="6096000" y="1940000"/>
            <a:ext cx="4560000" cy="4800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hy: 러너가 부상 없이 오래 달린다"/>
          <p:cNvSpPr/>
          <p:nvPr/>
        </p:nvSpPr>
        <p:spPr>
          <a:xfrm>
            <a:off x="4596000" y="1420000"/>
            <a:ext cx="300000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400" b="1">
                <a:solidFill>
                  <a:srgbClr val="1F2A2E"/>
                </a:solidFill>
                <a:latin typeface="Pretendard"/>
                <a:ea typeface="Pretendard"/>
              </a:rPr>
              <a:t>러너가 부상 없이 오래 달린다</a:t>
            </a:r>
          </a:p>
        </p:txBody>
      </p:sp>
      <p:sp>
        <p:nvSpPr>
          <p:cNvPr id="11" name="seed: 니치 러닝 측정 (관절가동범위·착지 습관·좌우 밸런스)"/>
          <p:cNvSpPr/>
          <p:nvPr/>
        </p:nvSpPr>
        <p:spPr>
          <a:xfrm>
            <a:off x="7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니치 러닝 측정 (관절가동범위·착지 습관·좌우 밸런스)</a:t>
            </a:r>
          </a:p>
        </p:txBody>
      </p:sp>
      <p:sp>
        <p:nvSpPr>
          <p:cNvPr id="12" name="seed: 보행 검사"/>
          <p:cNvSpPr/>
          <p:nvPr/>
        </p:nvSpPr>
        <p:spPr>
          <a:xfrm>
            <a:off x="83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보행 검사</a:t>
            </a:r>
          </a:p>
        </p:txBody>
      </p:sp>
      <p:sp>
        <p:nvSpPr>
          <p:cNvPr id="13" name="why: 인체계측"/>
          <p:cNvSpPr/>
          <p:nvPr/>
        </p:nvSpPr>
        <p:spPr>
          <a:xfrm>
            <a:off x="159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인체계측</a:t>
            </a:r>
          </a:p>
        </p:txBody>
      </p:sp>
      <p:sp>
        <p:nvSpPr>
          <p:cNvPr id="14" name="new: 스마트폰 카메라로 자세 촬영"/>
          <p:cNvSpPr/>
          <p:nvPr/>
        </p:nvSpPr>
        <p:spPr>
          <a:xfrm>
            <a:off x="235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스마트폰 카메라로 자세 촬영</a:t>
            </a:r>
          </a:p>
        </p:txBody>
      </p:sp>
      <p:sp>
        <p:nvSpPr>
          <p:cNvPr id="15" name="why: 내가 &quot;어떻게&quot; 달리는지 안다"/>
          <p:cNvSpPr/>
          <p:nvPr/>
        </p:nvSpPr>
        <p:spPr>
          <a:xfrm>
            <a:off x="716000" y="2420000"/>
            <a:ext cx="2400000" cy="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250" b="1">
                <a:solidFill>
                  <a:srgbClr val="1F2A2E"/>
                </a:solidFill>
                <a:latin typeface="Pretendard"/>
                <a:ea typeface="Pretendard"/>
              </a:rPr>
              <a:t>내가 "어떻게" 달리는지 안다</a:t>
            </a:r>
          </a:p>
        </p:txBody>
      </p:sp>
      <p:sp>
        <p:nvSpPr>
          <p:cNvPr id="21" name="why: 전문가(의사·물리치료사)의 설명"/>
          <p:cNvSpPr/>
          <p:nvPr/>
        </p:nvSpPr>
        <p:spPr>
          <a:xfrm>
            <a:off x="311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전문가(의사·물리치료사)의 설명</a:t>
            </a:r>
          </a:p>
        </p:txBody>
      </p:sp>
      <p:sp>
        <p:nvSpPr>
          <p:cNvPr id="22" name="new: 쉬운 말 리포트"/>
          <p:cNvSpPr/>
          <p:nvPr/>
        </p:nvSpPr>
        <p:spPr>
          <a:xfrm>
            <a:off x="387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쉬운 말 리포트</a:t>
            </a:r>
          </a:p>
        </p:txBody>
      </p:sp>
      <p:sp>
        <p:nvSpPr>
          <p:cNvPr id="23" name="new: 측정 조건과 한계를 표시"/>
          <p:cNvSpPr/>
          <p:nvPr/>
        </p:nvSpPr>
        <p:spPr>
          <a:xfrm>
            <a:off x="463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측정 조건과 한계를 표시</a:t>
            </a:r>
          </a:p>
        </p:txBody>
      </p:sp>
      <p:sp>
        <p:nvSpPr>
          <p:cNvPr id="24" name="why: 결과를 이해하고 믿는다"/>
          <p:cNvSpPr/>
          <p:nvPr/>
        </p:nvSpPr>
        <p:spPr>
          <a:xfrm>
            <a:off x="3376000" y="2420000"/>
            <a:ext cx="2400000" cy="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250" b="1">
                <a:solidFill>
                  <a:srgbClr val="1F2A2E"/>
                </a:solidFill>
                <a:latin typeface="Pretendard"/>
                <a:ea typeface="Pretendard"/>
              </a:rPr>
              <a:t>결과를 이해하고 믿는다</a:t>
            </a:r>
          </a:p>
        </p:txBody>
      </p:sp>
      <p:sp>
        <p:nvSpPr>
          <p:cNvPr id="29" name="seed: AI 맞춤 운동 콘텐츠"/>
          <p:cNvSpPr/>
          <p:nvPr/>
        </p:nvSpPr>
        <p:spPr>
          <a:xfrm>
            <a:off x="539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AI 맞춤 운동 콘텐츠</a:t>
            </a:r>
          </a:p>
        </p:txBody>
      </p:sp>
      <p:sp>
        <p:nvSpPr>
          <p:cNvPr id="30" name="seed: 보행 훈련"/>
          <p:cNvSpPr/>
          <p:nvPr/>
        </p:nvSpPr>
        <p:spPr>
          <a:xfrm>
            <a:off x="615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보행 훈련</a:t>
            </a:r>
          </a:p>
        </p:txBody>
      </p:sp>
      <p:sp>
        <p:nvSpPr>
          <p:cNvPr id="31" name="new: 가장 중요한 교정 행동 하나만 제안"/>
          <p:cNvSpPr/>
          <p:nvPr/>
        </p:nvSpPr>
        <p:spPr>
          <a:xfrm>
            <a:off x="691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가장 중요한 교정 행동 하나만 제안</a:t>
            </a:r>
          </a:p>
        </p:txBody>
      </p:sp>
      <p:sp>
        <p:nvSpPr>
          <p:cNvPr id="32" name="new: 같은 조건에서 재측정해 변화 확인"/>
          <p:cNvSpPr/>
          <p:nvPr/>
        </p:nvSpPr>
        <p:spPr>
          <a:xfrm>
            <a:off x="767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같은 조건에서 재측정해 변화 확인</a:t>
            </a:r>
          </a:p>
        </p:txBody>
      </p:sp>
      <p:sp>
        <p:nvSpPr>
          <p:cNvPr id="33" name="new: 다음 러닝 직전에 리마인드"/>
          <p:cNvSpPr/>
          <p:nvPr/>
        </p:nvSpPr>
        <p:spPr>
          <a:xfrm>
            <a:off x="843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다음 러닝 직전에 리마인드</a:t>
            </a:r>
          </a:p>
        </p:txBody>
      </p:sp>
      <p:sp>
        <p:nvSpPr>
          <p:cNvPr id="34" name="why: 실제로 자세를 바꾼다"/>
          <p:cNvSpPr/>
          <p:nvPr/>
        </p:nvSpPr>
        <p:spPr>
          <a:xfrm>
            <a:off x="6416000" y="2420000"/>
            <a:ext cx="2400000" cy="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250" b="1">
                <a:solidFill>
                  <a:srgbClr val="1F2A2E"/>
                </a:solidFill>
                <a:latin typeface="Pretendard"/>
                <a:ea typeface="Pretendard"/>
              </a:rPr>
              <a:t>실제로 자세를 바꾼다</a:t>
            </a:r>
          </a:p>
        </p:txBody>
      </p:sp>
      <p:sp>
        <p:nvSpPr>
          <p:cNvPr id="41" name="seed: 마라톤 행사 부스 체험"/>
          <p:cNvSpPr/>
          <p:nvPr/>
        </p:nvSpPr>
        <p:spPr>
          <a:xfrm>
            <a:off x="919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마라톤 행사 부스 체험</a:t>
            </a:r>
          </a:p>
        </p:txBody>
      </p:sp>
      <p:sp>
        <p:nvSpPr>
          <p:cNvPr id="42" name="why: 러닝크루(동구동런)"/>
          <p:cNvSpPr/>
          <p:nvPr/>
        </p:nvSpPr>
        <p:spPr>
          <a:xfrm>
            <a:off x="9956000" y="496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러닝크루(동구동런)</a:t>
            </a:r>
          </a:p>
        </p:txBody>
      </p:sp>
      <p:sp>
        <p:nvSpPr>
          <p:cNvPr id="43" name="why: 운동선수·인플루언서 추천"/>
          <p:cNvSpPr/>
          <p:nvPr/>
        </p:nvSpPr>
        <p:spPr>
          <a:xfrm>
            <a:off x="10716000" y="3700000"/>
            <a:ext cx="1400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050" b="1">
                <a:solidFill>
                  <a:srgbClr val="1F2A2E"/>
                </a:solidFill>
                <a:latin typeface="Pretendard"/>
                <a:ea typeface="Pretendard"/>
              </a:rPr>
              <a:t>운동선수·인플루언서 추천</a:t>
            </a:r>
          </a:p>
        </p:txBody>
      </p:sp>
      <p:sp>
        <p:nvSpPr>
          <p:cNvPr id="44" name="why: 더 많은 러너가 써 보게 한다"/>
          <p:cNvSpPr/>
          <p:nvPr/>
        </p:nvSpPr>
        <p:spPr>
          <a:xfrm>
            <a:off x="9456000" y="2420000"/>
            <a:ext cx="2400000" cy="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5400" rIns="45720" bIns="25400" rtlCol="0" anchor="ctr">
            <a:normAutofit/>
          </a:bodyPr>
          <a:lstStyle/>
          <a:p>
            <a:pPr algn="ctr"/>
            <a:r>
              <a:rPr lang="ko-KR" altLang="en-US" sz="1250" b="1">
                <a:solidFill>
                  <a:srgbClr val="1F2A2E"/>
                </a:solidFill>
                <a:latin typeface="Pretendard"/>
                <a:ea typeface="Pretendard"/>
              </a:rPr>
              <a:t>더 많은 러너가 써 보게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6060000"/>
            <a:ext cx="113792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4A5568"/>
                </a:solidFill>
                <a:latin typeface="Pretendard"/>
                <a:ea typeface="Pretendard"/>
              </a:rPr>
              <a:t>주황 상자 = 씨앗(지금 하는 일 중 먼저 떠오른 다섯 가지), 점선 상자 = 아직 하지 않는 새 방법. 「실제로 자세를 바꾼다」 가지는 내 프리모텀 #2 "AI의 교정 제안이 행동 변화로 이어지지 못했다"에서 나왔다.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